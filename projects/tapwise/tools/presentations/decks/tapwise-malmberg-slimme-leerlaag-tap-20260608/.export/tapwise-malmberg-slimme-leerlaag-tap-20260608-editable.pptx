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ound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Text 3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  <p:sp>
        <p:nvSpPr>
          <p:cNvPr id="6" name="Text 4"/>
          <p:cNvSpPr/>
          <p:nvPr/>
        </p:nvSpPr>
        <p:spPr>
          <a:xfrm>
            <a:off x="676656" y="114300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232904" y="1133856"/>
            <a:ext cx="3657600" cy="1874520"/>
          </a:xfrm>
          <a:prstGeom prst="roundRect">
            <a:avLst>
              <a:gd name="adj" fmla="val 8780"/>
            </a:avLst>
          </a:prstGeom>
          <a:solidFill>
            <a:srgbClr val="D8D2CA">
              <a:alpha val="26000"/>
            </a:srgbClr>
          </a:solidFill>
          <a:ln w="12700">
            <a:solidFill>
              <a:srgbClr val="D8D2C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1078992"/>
            <a:ext cx="36576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pic>
        <p:nvPicPr>
          <p:cNvPr id="9" name="Image 0" descr="/Users/woutervanrijmenam/Documents/Projects/Qraft/projects/tapwise/tools/presentations/decks/tapwise-malmberg-slimme-leerlaag-tap-20260608/assets/tapwise-hero-learning-laye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9208" y="1243584"/>
            <a:ext cx="3255264" cy="152704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70648" y="2569464"/>
            <a:ext cx="1920240" cy="192024"/>
          </a:xfrm>
          <a:prstGeom prst="roundRect">
            <a:avLst>
              <a:gd name="adj" fmla="val 4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62088" y="2624328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Slimme leerroute</a:t>
            </a:r>
            <a:endParaRPr lang="en-US" sz="480" dirty="0"/>
          </a:p>
        </p:txBody>
      </p:sp>
      <p:sp>
        <p:nvSpPr>
          <p:cNvPr id="12" name="Shape 9"/>
          <p:cNvSpPr/>
          <p:nvPr/>
        </p:nvSpPr>
        <p:spPr>
          <a:xfrm>
            <a:off x="676656" y="6181344"/>
            <a:ext cx="10835640" cy="347472"/>
          </a:xfrm>
          <a:prstGeom prst="roundRect">
            <a:avLst>
              <a:gd name="adj" fmla="val 2368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6384" y="62636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Voor Malmberg</a:t>
            </a:r>
            <a:endParaRPr lang="en-US" sz="460" dirty="0"/>
          </a:p>
          <a:p>
            <a:pPr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Conceptpresentatie</a:t>
            </a:r>
            <a:endParaRPr lang="en-US" sz="460" dirty="0"/>
          </a:p>
        </p:txBody>
      </p:sp>
      <p:sp>
        <p:nvSpPr>
          <p:cNvPr id="14" name="Text 11"/>
          <p:cNvSpPr/>
          <p:nvPr/>
        </p:nvSpPr>
        <p:spPr>
          <a:xfrm>
            <a:off x="5074920" y="629107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 voor educatie</a:t>
            </a:r>
            <a:endParaRPr lang="en-US" sz="460" dirty="0"/>
          </a:p>
        </p:txBody>
      </p:sp>
      <p:sp>
        <p:nvSpPr>
          <p:cNvPr id="15" name="Text 12"/>
          <p:cNvSpPr/>
          <p:nvPr/>
        </p:nvSpPr>
        <p:spPr>
          <a:xfrm>
            <a:off x="10424160" y="629107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4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ound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Shape 3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11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  <p:sp>
        <p:nvSpPr>
          <p:cNvPr id="12" name="Text 10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11</a:t>
            </a:r>
            <a:endParaRPr lang="en-US" sz="520" dirty="0"/>
          </a:p>
        </p:txBody>
      </p:sp>
      <p:sp>
        <p:nvSpPr>
          <p:cNvPr id="13" name="Text 11"/>
          <p:cNvSpPr/>
          <p:nvPr/>
        </p:nvSpPr>
        <p:spPr>
          <a:xfrm>
            <a:off x="676656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" y="3017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Centraal AI-systeem dat digitale content maakt van lesmateriaal.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440680" y="23317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0408" y="24048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3268" y="24021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5751576" y="24003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lesmateriaal, hoofdstukken en afbeeldingen.</a:t>
            </a:r>
            <a:endParaRPr lang="en-US" sz="610" dirty="0"/>
          </a:p>
        </p:txBody>
      </p:sp>
      <p:sp>
        <p:nvSpPr>
          <p:cNvPr id="19" name="Shape 17"/>
          <p:cNvSpPr/>
          <p:nvPr/>
        </p:nvSpPr>
        <p:spPr>
          <a:xfrm>
            <a:off x="5440680" y="27889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0408" y="28620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3268" y="28593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5751576" y="28575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Zet de inhoud om naar een doorzoekbare kennislaag, zodat AI antwoorden geeft vanuit de juiste bron.</a:t>
            </a:r>
            <a:endParaRPr lang="en-US" sz="610" dirty="0"/>
          </a:p>
        </p:txBody>
      </p:sp>
      <p:sp>
        <p:nvSpPr>
          <p:cNvPr id="23" name="Shape 21"/>
          <p:cNvSpPr/>
          <p:nvPr/>
        </p:nvSpPr>
        <p:spPr>
          <a:xfrm>
            <a:off x="5440680" y="32461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0408" y="33192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3268" y="33165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5751576" y="33147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Slaat de volgorde en structuur van het boek op, zodat de leerroute logisch blijft.</a:t>
            </a:r>
            <a:endParaRPr lang="en-US" sz="6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ound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Shape 3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MCP-systeem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11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  <p:sp>
        <p:nvSpPr>
          <p:cNvPr id="12" name="Text 10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11</a:t>
            </a:r>
            <a:endParaRPr lang="en-US" sz="520" dirty="0"/>
          </a:p>
        </p:txBody>
      </p:sp>
      <p:sp>
        <p:nvSpPr>
          <p:cNvPr id="13" name="Text 11"/>
          <p:cNvSpPr/>
          <p:nvPr/>
        </p:nvSpPr>
        <p:spPr>
          <a:xfrm>
            <a:off x="676656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" y="3017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MCP-systeem voor educatie. Per hoofdstuk kunnen we automatisch leeronderdelen maken.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440680" y="23317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0408" y="24048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3268" y="24021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5751576" y="24003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Podcasts</a:t>
            </a:r>
            <a:endParaRPr lang="en-US" sz="610" dirty="0"/>
          </a:p>
        </p:txBody>
      </p:sp>
      <p:sp>
        <p:nvSpPr>
          <p:cNvPr id="19" name="Shape 17"/>
          <p:cNvSpPr/>
          <p:nvPr/>
        </p:nvSpPr>
        <p:spPr>
          <a:xfrm>
            <a:off x="5440680" y="27889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0408" y="28620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3268" y="28593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5751576" y="28575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Quizzen en adaptieve quizzen</a:t>
            </a:r>
            <a:endParaRPr lang="en-US" sz="610" dirty="0"/>
          </a:p>
        </p:txBody>
      </p:sp>
      <p:sp>
        <p:nvSpPr>
          <p:cNvPr id="23" name="Shape 21"/>
          <p:cNvSpPr/>
          <p:nvPr/>
        </p:nvSpPr>
        <p:spPr>
          <a:xfrm>
            <a:off x="5440680" y="32461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0408" y="33192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3268" y="33165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5751576" y="33147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vragen met nakijkhulp</a:t>
            </a:r>
            <a:endParaRPr lang="en-US" sz="610" dirty="0"/>
          </a:p>
        </p:txBody>
      </p:sp>
      <p:sp>
        <p:nvSpPr>
          <p:cNvPr id="27" name="Shape 25"/>
          <p:cNvSpPr/>
          <p:nvPr/>
        </p:nvSpPr>
        <p:spPr>
          <a:xfrm>
            <a:off x="5440680" y="37033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50408" y="37764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3268" y="37737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30" name="Text 28"/>
          <p:cNvSpPr/>
          <p:nvPr/>
        </p:nvSpPr>
        <p:spPr>
          <a:xfrm>
            <a:off x="5751576" y="37719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Werkboeken</a:t>
            </a:r>
            <a:endParaRPr lang="en-US" sz="610" dirty="0"/>
          </a:p>
        </p:txBody>
      </p:sp>
      <p:sp>
        <p:nvSpPr>
          <p:cNvPr id="31" name="Shape 29"/>
          <p:cNvSpPr/>
          <p:nvPr/>
        </p:nvSpPr>
        <p:spPr>
          <a:xfrm>
            <a:off x="5440680" y="41605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0408" y="42336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3268" y="42309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5751576" y="42291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Presentaties met hergebruik van afbeeldingen</a:t>
            </a:r>
            <a:endParaRPr lang="en-US" sz="610" dirty="0"/>
          </a:p>
        </p:txBody>
      </p:sp>
      <p:sp>
        <p:nvSpPr>
          <p:cNvPr id="35" name="Shape 33"/>
          <p:cNvSpPr/>
          <p:nvPr/>
        </p:nvSpPr>
        <p:spPr>
          <a:xfrm>
            <a:off x="5440680" y="46177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50408" y="46908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3268" y="46881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5751576" y="46863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Korte videoscribes</a:t>
            </a:r>
            <a:endParaRPr lang="en-US" sz="610" dirty="0"/>
          </a:p>
        </p:txBody>
      </p:sp>
      <p:sp>
        <p:nvSpPr>
          <p:cNvPr id="39" name="Shape 37"/>
          <p:cNvSpPr/>
          <p:nvPr/>
        </p:nvSpPr>
        <p:spPr>
          <a:xfrm>
            <a:off x="5440680" y="50749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50408" y="51480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3268" y="51453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42" name="Text 40"/>
          <p:cNvSpPr/>
          <p:nvPr/>
        </p:nvSpPr>
        <p:spPr>
          <a:xfrm>
            <a:off x="5751576" y="51435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met een specifiek hoofdstuk of met het hele boek, inclusief bronverwijzing.</a:t>
            </a:r>
            <a:endParaRPr lang="en-US" sz="610" dirty="0"/>
          </a:p>
        </p:txBody>
      </p:sp>
      <p:sp>
        <p:nvSpPr>
          <p:cNvPr id="43" name="Shape 41"/>
          <p:cNvSpPr/>
          <p:nvPr/>
        </p:nvSpPr>
        <p:spPr>
          <a:xfrm>
            <a:off x="5440680" y="55321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50408" y="56052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3268" y="56025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46" name="Text 44"/>
          <p:cNvSpPr/>
          <p:nvPr/>
        </p:nvSpPr>
        <p:spPr>
          <a:xfrm>
            <a:off x="5751576" y="56007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Opbouw van een AI-leerlingprofiel: wat beheerst de leerling, en waar is extra uitleg nodig?</a:t>
            </a:r>
            <a:endParaRPr lang="en-US" sz="6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ound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Text 3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  <p:sp>
        <p:nvSpPr>
          <p:cNvPr id="6" name="Shape 4"/>
          <p:cNvSpPr/>
          <p:nvPr/>
        </p:nvSpPr>
        <p:spPr>
          <a:xfrm>
            <a:off x="1051560" y="1097280"/>
            <a:ext cx="164592" cy="1645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25146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Technische voorbeelden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ound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Shape 3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11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  <p:sp>
        <p:nvSpPr>
          <p:cNvPr id="12" name="Text 10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11</a:t>
            </a:r>
            <a:endParaRPr lang="en-US" sz="520" dirty="0"/>
          </a:p>
        </p:txBody>
      </p:sp>
      <p:sp>
        <p:nvSpPr>
          <p:cNvPr id="13" name="Text 11"/>
          <p:cNvSpPr/>
          <p:nvPr/>
        </p:nvSpPr>
        <p:spPr>
          <a:xfrm>
            <a:off x="676656" y="13258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6035040" y="1389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MCP-systeem voor educatie: losse skills die samen een leerervaring vormen.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" y="2788920"/>
            <a:ext cx="2487168" cy="1874520"/>
          </a:xfrm>
          <a:prstGeom prst="roundRect">
            <a:avLst>
              <a:gd name="adj" fmla="val 7805"/>
            </a:avLst>
          </a:prstGeom>
          <a:solidFill>
            <a:srgbClr val="EEF7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29992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80" dirty="0"/>
          </a:p>
        </p:txBody>
      </p:sp>
      <p:sp>
        <p:nvSpPr>
          <p:cNvPr id="17" name="Shape 15"/>
          <p:cNvSpPr/>
          <p:nvPr/>
        </p:nvSpPr>
        <p:spPr>
          <a:xfrm>
            <a:off x="2560320" y="2953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302209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□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05256" y="34747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Samenvatten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05256" y="3886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Lesmateriaal omzetten naar duidelijke uitleg.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3447288" y="2788920"/>
            <a:ext cx="2487168" cy="1874520"/>
          </a:xfrm>
          <a:prstGeom prst="roundRect">
            <a:avLst>
              <a:gd name="adj" fmla="val 7805"/>
            </a:avLst>
          </a:prstGeom>
          <a:solidFill>
            <a:srgbClr val="EEF8EE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5888" y="29992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80" dirty="0"/>
          </a:p>
        </p:txBody>
      </p:sp>
      <p:sp>
        <p:nvSpPr>
          <p:cNvPr id="23" name="Shape 21"/>
          <p:cNvSpPr/>
          <p:nvPr/>
        </p:nvSpPr>
        <p:spPr>
          <a:xfrm>
            <a:off x="5330952" y="2953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04104" y="302209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75888" y="34747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Genereren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675888" y="3886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Vragen, quizzen, werkboeken en presentaties maken.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6217920" y="2788920"/>
            <a:ext cx="2487168" cy="1874520"/>
          </a:xfrm>
          <a:prstGeom prst="roundRect">
            <a:avLst>
              <a:gd name="adj" fmla="val 7805"/>
            </a:avLst>
          </a:prstGeom>
          <a:solidFill>
            <a:srgbClr val="FFF6D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9992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8101584" y="2953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74736" y="302209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46520" y="34747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Controleren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46520" y="3886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Bronnen en kwaliteit bewaken voor educatief gebruik.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8988552" y="2788920"/>
            <a:ext cx="2487168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17152" y="29992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80" dirty="0"/>
          </a:p>
        </p:txBody>
      </p:sp>
      <p:sp>
        <p:nvSpPr>
          <p:cNvPr id="35" name="Shape 33"/>
          <p:cNvSpPr/>
          <p:nvPr/>
        </p:nvSpPr>
        <p:spPr>
          <a:xfrm>
            <a:off x="10872216" y="2953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945368" y="302209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217152" y="34747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Bijsturen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217152" y="3886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Leerlingdata vertalen naar passende vervolgstappen.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ound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Shape 3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1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11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  <p:sp>
        <p:nvSpPr>
          <p:cNvPr id="12" name="Text 10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11</a:t>
            </a:r>
            <a:endParaRPr lang="en-US" sz="520" dirty="0"/>
          </a:p>
        </p:txBody>
      </p:sp>
      <p:sp>
        <p:nvSpPr>
          <p:cNvPr id="13" name="Shape 11"/>
          <p:cNvSpPr/>
          <p:nvPr/>
        </p:nvSpPr>
        <p:spPr>
          <a:xfrm>
            <a:off x="676656" y="1389888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1478585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14401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Pilotomgeving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676656" y="22219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 kan het eruitzien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" y="29809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1: Tapwise UI. Een aparte Tapwise-omgeving om snel te testen met leerlingen.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76656" y="367588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374904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" y="374629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987552" y="374446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Snelle pilot zonder grote technische integratie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676656" y="404164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11480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" y="411205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987552" y="411022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Malmberg-content in een begeleide route</a:t>
            </a:r>
            <a:endParaRPr lang="en-US" sz="610" dirty="0"/>
          </a:p>
        </p:txBody>
      </p:sp>
      <p:sp>
        <p:nvSpPr>
          <p:cNvPr id="26" name="Shape 24"/>
          <p:cNvSpPr/>
          <p:nvPr/>
        </p:nvSpPr>
        <p:spPr>
          <a:xfrm>
            <a:off x="676656" y="440740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448056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" y="447781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987552" y="447598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zichtbaar hoe leerlingen oefenen</a:t>
            </a:r>
            <a:endParaRPr lang="en-US" sz="610" dirty="0"/>
          </a:p>
        </p:txBody>
      </p:sp>
      <p:sp>
        <p:nvSpPr>
          <p:cNvPr id="30" name="Shape 28"/>
          <p:cNvSpPr/>
          <p:nvPr/>
        </p:nvSpPr>
        <p:spPr>
          <a:xfrm>
            <a:off x="5705856" y="1655064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D8D2CA">
              <a:alpha val="26000"/>
            </a:srgbClr>
          </a:solidFill>
          <a:ln w="12700">
            <a:solidFill>
              <a:srgbClr val="D8D2CA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50992" y="1600200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pic>
        <p:nvPicPr>
          <p:cNvPr id="32" name="Image 0" descr="/Users/woutervanrijmenam/Documents/Projects/Qraft/projects/tapwise/tools/presentations/decks/tapwise-malmberg-slimme-leerlaag-tap-20260608/assets/tapwise-ui-pil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2160" y="1764792"/>
            <a:ext cx="4764024" cy="2898648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943600" y="4462272"/>
            <a:ext cx="1920240" cy="192024"/>
          </a:xfrm>
          <a:prstGeom prst="roundRect">
            <a:avLst>
              <a:gd name="adj" fmla="val 4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35040" y="451713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UI als snelle pilot</a:t>
            </a:r>
            <a:endParaRPr lang="en-US" sz="4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ound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Shape 3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2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11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  <p:sp>
        <p:nvSpPr>
          <p:cNvPr id="12" name="Text 10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11</a:t>
            </a:r>
            <a:endParaRPr lang="en-US" sz="520" dirty="0"/>
          </a:p>
        </p:txBody>
      </p:sp>
      <p:sp>
        <p:nvSpPr>
          <p:cNvPr id="13" name="Shape 11"/>
          <p:cNvSpPr/>
          <p:nvPr/>
        </p:nvSpPr>
        <p:spPr>
          <a:xfrm>
            <a:off x="676656" y="1389888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1478585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14401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Integratie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676656" y="22219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Ingebouwd in Malmberg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" y="29809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2: integratie. TapEngine draait achter de schermen en voedt onderdelen in de Malmberg-omgeving.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76656" y="367588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374904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" y="374629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987552" y="374446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Malmberg bepaalt wat zichtbaar wordt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676656" y="404164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11480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" y="411205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987552" y="411022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AI-functionaliteit stap voor stap toevoegen</a:t>
            </a:r>
            <a:endParaRPr lang="en-US" sz="610" dirty="0"/>
          </a:p>
        </p:txBody>
      </p:sp>
      <p:sp>
        <p:nvSpPr>
          <p:cNvPr id="26" name="Shape 24"/>
          <p:cNvSpPr/>
          <p:nvPr/>
        </p:nvSpPr>
        <p:spPr>
          <a:xfrm>
            <a:off x="676656" y="440740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448056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" y="447781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987552" y="447598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Bestaande leeromgeving blijft leidend</a:t>
            </a:r>
            <a:endParaRPr lang="en-US" sz="610" dirty="0"/>
          </a:p>
        </p:txBody>
      </p:sp>
      <p:sp>
        <p:nvSpPr>
          <p:cNvPr id="30" name="Shape 28"/>
          <p:cNvSpPr/>
          <p:nvPr/>
        </p:nvSpPr>
        <p:spPr>
          <a:xfrm>
            <a:off x="5705856" y="1655064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D8D2CA">
              <a:alpha val="26000"/>
            </a:srgbClr>
          </a:solidFill>
          <a:ln w="12700">
            <a:solidFill>
              <a:srgbClr val="D8D2CA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50992" y="1600200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pic>
        <p:nvPicPr>
          <p:cNvPr id="32" name="Image 0" descr="/Users/woutervanrijmenam/Documents/Projects/Qraft/projects/tapwise/tools/presentations/decks/tapwise-malmberg-slimme-leerlaag-tap-20260608/assets/tapwise-integra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2160" y="1764792"/>
            <a:ext cx="4764024" cy="2898648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943600" y="4462272"/>
            <a:ext cx="1920240" cy="192024"/>
          </a:xfrm>
          <a:prstGeom prst="roundRect">
            <a:avLst>
              <a:gd name="adj" fmla="val 4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35040" y="451713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 achter de schermen</a:t>
            </a:r>
            <a:endParaRPr lang="en-US" sz="4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ound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Shape 3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3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11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  <p:sp>
        <p:nvSpPr>
          <p:cNvPr id="12" name="Text 10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11</a:t>
            </a:r>
            <a:endParaRPr lang="en-US" sz="520" dirty="0"/>
          </a:p>
        </p:txBody>
      </p:sp>
      <p:sp>
        <p:nvSpPr>
          <p:cNvPr id="13" name="Shape 11"/>
          <p:cNvSpPr/>
          <p:nvPr/>
        </p:nvSpPr>
        <p:spPr>
          <a:xfrm>
            <a:off x="676656" y="1389888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1478585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14401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Kanalen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676656" y="22219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Hulp op plekken die leerlingen al gebruiken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" y="29809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3: WhatsApp, Snapchat, Telegram of een ander kanaal.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76656" y="367588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374904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" y="374629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987552" y="374446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Leerlingen stellen vragen in een kanaal dat ze al gebruiken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676656" y="404164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11480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" y="411205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987552" y="411022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Antwoorden blijven gekoppeld aan de Malmberg-bron</a:t>
            </a:r>
            <a:endParaRPr lang="en-US" sz="610" dirty="0"/>
          </a:p>
        </p:txBody>
      </p:sp>
      <p:sp>
        <p:nvSpPr>
          <p:cNvPr id="26" name="Shape 24"/>
          <p:cNvSpPr/>
          <p:nvPr/>
        </p:nvSpPr>
        <p:spPr>
          <a:xfrm>
            <a:off x="676656" y="440740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448056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" y="447781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987552" y="447598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Handig voor korte herhaling, uitleg en reminders</a:t>
            </a:r>
            <a:endParaRPr lang="en-US" sz="610" dirty="0"/>
          </a:p>
        </p:txBody>
      </p:sp>
      <p:sp>
        <p:nvSpPr>
          <p:cNvPr id="30" name="Shape 28"/>
          <p:cNvSpPr/>
          <p:nvPr/>
        </p:nvSpPr>
        <p:spPr>
          <a:xfrm>
            <a:off x="5705856" y="1655064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D8D2CA">
              <a:alpha val="26000"/>
            </a:srgbClr>
          </a:solidFill>
          <a:ln w="12700">
            <a:solidFill>
              <a:srgbClr val="D8D2CA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50992" y="1600200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pic>
        <p:nvPicPr>
          <p:cNvPr id="32" name="Image 0" descr="/Users/woutervanrijmenam/Documents/Projects/Qraft/projects/tapwise/tools/presentations/decks/tapwise-malmberg-slimme-leerlaag-tap-20260608/assets/tapwise-chat-channel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2160" y="1764792"/>
            <a:ext cx="4764024" cy="2898648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943600" y="4462272"/>
            <a:ext cx="1920240" cy="192024"/>
          </a:xfrm>
          <a:prstGeom prst="roundRect">
            <a:avLst>
              <a:gd name="adj" fmla="val 4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35040" y="451713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Een bron, meerdere voordeuren</a:t>
            </a:r>
            <a:endParaRPr lang="en-US" sz="4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ound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Shape 3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Kanalen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11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  <p:sp>
        <p:nvSpPr>
          <p:cNvPr id="12" name="Text 10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11</a:t>
            </a:r>
            <a:endParaRPr lang="en-US" sz="520" dirty="0"/>
          </a:p>
        </p:txBody>
      </p:sp>
      <p:sp>
        <p:nvSpPr>
          <p:cNvPr id="13" name="Shape 11"/>
          <p:cNvSpPr/>
          <p:nvPr/>
        </p:nvSpPr>
        <p:spPr>
          <a:xfrm>
            <a:off x="676656" y="1417320"/>
            <a:ext cx="4754880" cy="4526280"/>
          </a:xfrm>
          <a:prstGeom prst="roundRect">
            <a:avLst>
              <a:gd name="adj" fmla="val 3636"/>
            </a:avLst>
          </a:prstGeom>
          <a:solidFill>
            <a:srgbClr val="EEF7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6696" y="1764792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1853489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07008" y="181508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Zelfde inhoud</a:t>
            </a:r>
            <a:endParaRPr lang="en-US" sz="540" dirty="0"/>
          </a:p>
        </p:txBody>
      </p:sp>
      <p:sp>
        <p:nvSpPr>
          <p:cNvPr id="17" name="Text 15"/>
          <p:cNvSpPr/>
          <p:nvPr/>
        </p:nvSpPr>
        <p:spPr>
          <a:xfrm>
            <a:off x="996696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bron blijft Malmberg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96696" y="2907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leerlaag gebruikt dezelfde gecontroleerde content.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996696" y="3703320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6424" y="37764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9284" y="37737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1307592" y="377190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Boek</a:t>
            </a:r>
            <a:endParaRPr lang="en-US" sz="610" dirty="0"/>
          </a:p>
        </p:txBody>
      </p:sp>
      <p:sp>
        <p:nvSpPr>
          <p:cNvPr id="23" name="Shape 21"/>
          <p:cNvSpPr/>
          <p:nvPr/>
        </p:nvSpPr>
        <p:spPr>
          <a:xfrm>
            <a:off x="996696" y="4105656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6424" y="4178808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9284" y="4176065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1307592" y="417423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Hoofdstuk</a:t>
            </a:r>
            <a:endParaRPr lang="en-US" sz="610" dirty="0"/>
          </a:p>
        </p:txBody>
      </p:sp>
      <p:sp>
        <p:nvSpPr>
          <p:cNvPr id="27" name="Shape 25"/>
          <p:cNvSpPr/>
          <p:nvPr/>
        </p:nvSpPr>
        <p:spPr>
          <a:xfrm>
            <a:off x="996696" y="4507992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06424" y="4581144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9284" y="4578401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30" name="Text 28"/>
          <p:cNvSpPr/>
          <p:nvPr/>
        </p:nvSpPr>
        <p:spPr>
          <a:xfrm>
            <a:off x="1307592" y="457657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Leerdoel</a:t>
            </a:r>
            <a:endParaRPr lang="en-US" sz="610" dirty="0"/>
          </a:p>
        </p:txBody>
      </p:sp>
      <p:sp>
        <p:nvSpPr>
          <p:cNvPr id="31" name="Shape 29"/>
          <p:cNvSpPr/>
          <p:nvPr/>
        </p:nvSpPr>
        <p:spPr>
          <a:xfrm>
            <a:off x="6080760" y="1417320"/>
            <a:ext cx="4754880" cy="4526280"/>
          </a:xfrm>
          <a:prstGeom prst="roundRect">
            <a:avLst>
              <a:gd name="adj" fmla="val 3636"/>
            </a:avLst>
          </a:prstGeom>
          <a:solidFill>
            <a:srgbClr val="EEF8EE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0" y="1764792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01384" y="1853489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11112" y="181508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Andere voordeur</a:t>
            </a:r>
            <a:endParaRPr lang="en-US" sz="540" dirty="0"/>
          </a:p>
        </p:txBody>
      </p:sp>
      <p:sp>
        <p:nvSpPr>
          <p:cNvPr id="35" name="Text 33"/>
          <p:cNvSpPr/>
          <p:nvPr/>
        </p:nvSpPr>
        <p:spPr>
          <a:xfrm>
            <a:off x="640080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kanaal kan verschillen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00800" y="2907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leerling kan de hulp krijgen op een plek die logisch voelt.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6400800" y="3703320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10528" y="37764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3388" y="37737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40" name="Text 38"/>
          <p:cNvSpPr/>
          <p:nvPr/>
        </p:nvSpPr>
        <p:spPr>
          <a:xfrm>
            <a:off x="6711696" y="377190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UI</a:t>
            </a:r>
            <a:endParaRPr lang="en-US" sz="610" dirty="0"/>
          </a:p>
        </p:txBody>
      </p:sp>
      <p:sp>
        <p:nvSpPr>
          <p:cNvPr id="41" name="Shape 39"/>
          <p:cNvSpPr/>
          <p:nvPr/>
        </p:nvSpPr>
        <p:spPr>
          <a:xfrm>
            <a:off x="6400800" y="4105656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0528" y="4178808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3388" y="4176065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6711696" y="417423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Malmberg-integratie</a:t>
            </a:r>
            <a:endParaRPr lang="en-US" sz="610" dirty="0"/>
          </a:p>
        </p:txBody>
      </p:sp>
      <p:sp>
        <p:nvSpPr>
          <p:cNvPr id="45" name="Shape 43"/>
          <p:cNvSpPr/>
          <p:nvPr/>
        </p:nvSpPr>
        <p:spPr>
          <a:xfrm>
            <a:off x="6400800" y="4507992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10528" y="4581144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3388" y="4578401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48" name="Text 46"/>
          <p:cNvSpPr/>
          <p:nvPr/>
        </p:nvSpPr>
        <p:spPr>
          <a:xfrm>
            <a:off x="6711696" y="457657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Chatkanaal</a:t>
            </a:r>
            <a:endParaRPr lang="en-US" sz="6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ound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Shape 3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Kwaliteit</a:t>
            </a:r>
            <a:endParaRPr lang="en-US" sz="540" dirty="0"/>
          </a:p>
        </p:txBody>
      </p:sp>
      <p:sp>
        <p:nvSpPr>
          <p:cNvPr id="8" name="Shape 6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540" dirty="0"/>
          </a:p>
        </p:txBody>
      </p:sp>
      <p:sp>
        <p:nvSpPr>
          <p:cNvPr id="11" name="Text 9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  <p:sp>
        <p:nvSpPr>
          <p:cNvPr id="12" name="Text 10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520" dirty="0"/>
          </a:p>
        </p:txBody>
      </p:sp>
      <p:sp>
        <p:nvSpPr>
          <p:cNvPr id="13" name="Shape 11"/>
          <p:cNvSpPr/>
          <p:nvPr/>
        </p:nvSpPr>
        <p:spPr>
          <a:xfrm>
            <a:off x="676656" y="1389888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1478585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14401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Kwaliteitscontrole</a:t>
            </a:r>
            <a:endParaRPr lang="en-US" sz="540" dirty="0"/>
          </a:p>
        </p:txBody>
      </p:sp>
      <p:sp>
        <p:nvSpPr>
          <p:cNvPr id="16" name="Text 14"/>
          <p:cNvSpPr/>
          <p:nvPr/>
        </p:nvSpPr>
        <p:spPr>
          <a:xfrm>
            <a:off x="676656" y="22219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 backend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" y="29809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maakt voorwerk, mensen bewaken kwaliteit.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676656" y="367588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374904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" y="374629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987552" y="374446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Docenten, redactie of vakexperts kunnen AI-output controleren.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676656" y="404164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11480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" y="411205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987552" y="411022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Nieuwe content krijgt review-gates voordat leerlingen ermee werken.</a:t>
            </a:r>
            <a:endParaRPr lang="en-US" sz="610" dirty="0"/>
          </a:p>
        </p:txBody>
      </p:sp>
      <p:sp>
        <p:nvSpPr>
          <p:cNvPr id="26" name="Shape 24"/>
          <p:cNvSpPr/>
          <p:nvPr/>
        </p:nvSpPr>
        <p:spPr>
          <a:xfrm>
            <a:off x="676656" y="440740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" y="448056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9244" y="447781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987552" y="447598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Bronnen, wijzigingen en beslissingen blijven terug te vinden.</a:t>
            </a:r>
            <a:endParaRPr lang="en-US" sz="610" dirty="0"/>
          </a:p>
        </p:txBody>
      </p:sp>
      <p:sp>
        <p:nvSpPr>
          <p:cNvPr id="30" name="Shape 28"/>
          <p:cNvSpPr/>
          <p:nvPr/>
        </p:nvSpPr>
        <p:spPr>
          <a:xfrm>
            <a:off x="5705856" y="1655064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D8D2CA">
              <a:alpha val="26000"/>
            </a:srgbClr>
          </a:solidFill>
          <a:ln w="12700">
            <a:solidFill>
              <a:srgbClr val="D8D2CA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50992" y="1600200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pic>
        <p:nvPicPr>
          <p:cNvPr id="32" name="Image 0" descr="/Users/woutervanrijmenam/Documents/Projects/Qraft/projects/tapwise/tools/presentations/decks/tapwise-malmberg-slimme-leerlaag-tap-20260608/assets/tapwise-review-loo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2160" y="1764792"/>
            <a:ext cx="4764024" cy="2898648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5943600" y="4462272"/>
            <a:ext cx="1920240" cy="192024"/>
          </a:xfrm>
          <a:prstGeom prst="roundRect">
            <a:avLst>
              <a:gd name="adj" fmla="val 4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35040" y="451713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voordat leerlingen ermee werken</a:t>
            </a:r>
            <a:endParaRPr lang="en-US" sz="4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ound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Text 3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  <p:sp>
        <p:nvSpPr>
          <p:cNvPr id="6" name="Text 4"/>
          <p:cNvSpPr/>
          <p:nvPr/>
        </p:nvSpPr>
        <p:spPr>
          <a:xfrm>
            <a:off x="3886200" y="2606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Samenwerking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834640" y="333756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3474720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Neem contact op met TapEngine via AI-infrastructuur voor de educatiemarkt</a:t>
            </a:r>
            <a:endParaRPr lang="en-US" sz="580" dirty="0"/>
          </a:p>
        </p:txBody>
      </p:sp>
      <p:sp>
        <p:nvSpPr>
          <p:cNvPr id="9" name="Shape 7"/>
          <p:cNvSpPr/>
          <p:nvPr/>
        </p:nvSpPr>
        <p:spPr>
          <a:xfrm>
            <a:off x="676656" y="6181344"/>
            <a:ext cx="10835640" cy="347472"/>
          </a:xfrm>
          <a:prstGeom prst="roundRect">
            <a:avLst>
              <a:gd name="adj" fmla="val 2368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62636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</a:t>
            </a:r>
            <a:endParaRPr lang="en-US" sz="460" dirty="0"/>
          </a:p>
          <a:p>
            <a:pPr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460" dirty="0"/>
          </a:p>
        </p:txBody>
      </p:sp>
      <p:sp>
        <p:nvSpPr>
          <p:cNvPr id="11" name="Text 9"/>
          <p:cNvSpPr/>
          <p:nvPr/>
        </p:nvSpPr>
        <p:spPr>
          <a:xfrm>
            <a:off x="5074920" y="629107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Samenwerking</a:t>
            </a:r>
            <a:endParaRPr lang="en-US" sz="460" dirty="0"/>
          </a:p>
        </p:txBody>
      </p:sp>
      <p:sp>
        <p:nvSpPr>
          <p:cNvPr id="12" name="Text 10"/>
          <p:cNvSpPr/>
          <p:nvPr/>
        </p:nvSpPr>
        <p:spPr>
          <a:xfrm>
            <a:off x="10424160" y="629107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4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Qraft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Tapwise x Malmberg - Slimme leerlaag</dc:title>
  <dc:subject>Tapwise x Malmberg - Slimme leerlaag</dc:subject>
  <dc:creator>Qraft</dc:creator>
  <cp:lastModifiedBy>Qraft</cp:lastModifiedBy>
  <cp:revision>1</cp:revision>
  <dcterms:created xsi:type="dcterms:W3CDTF">2026-06-08T13:28:17Z</dcterms:created>
  <dcterms:modified xsi:type="dcterms:W3CDTF">2026-06-08T13:28:17Z</dcterms:modified>
</cp:coreProperties>
</file>