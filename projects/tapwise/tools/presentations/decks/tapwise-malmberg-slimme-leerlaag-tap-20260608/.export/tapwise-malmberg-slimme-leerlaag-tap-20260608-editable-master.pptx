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PWISE_MASTER">
    <p:bg>
      <p:bgPr>
        <a:solidFill>
          <a:srgbClr val="FB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192024"/>
            <a:ext cx="3794760" cy="246888"/>
          </a:xfrm>
          <a:prstGeom prst="rect">
            <a:avLst>
              <a:gd name="adj" fmla="val 4444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3816" y="278892"/>
            <a:ext cx="50292" cy="50292"/>
          </a:xfrm>
          <a:prstGeom prst="rect">
            <a:avLst>
              <a:gd name="adj" fmla="val 49091"/>
            </a:avLst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41832" y="237744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</a:t>
            </a:r>
            <a:endParaRPr lang="en-US" sz="560" dirty="0"/>
          </a:p>
        </p:txBody>
      </p:sp>
      <p:sp>
        <p:nvSpPr>
          <p:cNvPr id="5" name="Text 3"/>
          <p:cNvSpPr/>
          <p:nvPr/>
        </p:nvSpPr>
        <p:spPr>
          <a:xfrm>
            <a:off x="676656" y="6519672"/>
            <a:ext cx="1645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 x Malmberg</a:t>
            </a:r>
            <a:endParaRPr lang="en-US" sz="52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6656" y="1143000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 x Malmberg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7232904" y="1133856"/>
            <a:ext cx="3657600" cy="1874520"/>
          </a:xfrm>
          <a:prstGeom prst="roundRect">
            <a:avLst>
              <a:gd name="adj" fmla="val 8780"/>
            </a:avLst>
          </a:prstGeom>
          <a:solidFill>
            <a:srgbClr val="D8D2CA">
              <a:alpha val="26000"/>
            </a:srgbClr>
          </a:solidFill>
          <a:ln w="12700">
            <a:solidFill>
              <a:srgbClr val="D8D2CA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78040" y="1078992"/>
            <a:ext cx="3657600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pic>
        <p:nvPicPr>
          <p:cNvPr id="5" name="Image 0" descr="/Users/woutervanrijmenam/Documents/Projects/Qraft/projects/tapwise/tools/presentations/decks/tapwise-malmberg-slimme-leerlaag-tap-20260608/assets/tapwise-hero-learning-layer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79208" y="1243584"/>
            <a:ext cx="3255264" cy="15270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470648" y="2569464"/>
            <a:ext cx="1920240" cy="192024"/>
          </a:xfrm>
          <a:prstGeom prst="roundRect">
            <a:avLst>
              <a:gd name="adj" fmla="val 4761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62088" y="2624328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Slimme leerroute</a:t>
            </a:r>
            <a:endParaRPr lang="en-US" sz="480" dirty="0"/>
          </a:p>
        </p:txBody>
      </p:sp>
      <p:sp>
        <p:nvSpPr>
          <p:cNvPr id="8" name="Shape 5"/>
          <p:cNvSpPr/>
          <p:nvPr/>
        </p:nvSpPr>
        <p:spPr>
          <a:xfrm>
            <a:off x="676656" y="6181344"/>
            <a:ext cx="10835640" cy="347472"/>
          </a:xfrm>
          <a:prstGeom prst="roundRect">
            <a:avLst>
              <a:gd name="adj" fmla="val 2368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6384" y="626364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Voor Malmberg</a:t>
            </a:r>
            <a:endParaRPr lang="en-US" sz="460" dirty="0"/>
          </a:p>
          <a:p>
            <a:pPr indent="0" marL="0">
              <a:buNone/>
            </a:pPr>
            <a:r>
              <a:rPr lang="en-US" sz="46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Conceptpresentatie</a:t>
            </a:r>
            <a:endParaRPr lang="en-US" sz="460" dirty="0"/>
          </a:p>
        </p:txBody>
      </p:sp>
      <p:sp>
        <p:nvSpPr>
          <p:cNvPr id="10" name="Text 7"/>
          <p:cNvSpPr/>
          <p:nvPr/>
        </p:nvSpPr>
        <p:spPr>
          <a:xfrm>
            <a:off x="5074920" y="6291072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6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TapEngine voor educatie</a:t>
            </a:r>
            <a:endParaRPr lang="en-US" sz="460" dirty="0"/>
          </a:p>
        </p:txBody>
      </p:sp>
      <p:sp>
        <p:nvSpPr>
          <p:cNvPr id="11" name="Text 8"/>
          <p:cNvSpPr/>
          <p:nvPr/>
        </p:nvSpPr>
        <p:spPr>
          <a:xfrm>
            <a:off x="10424160" y="629107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</a:t>
            </a:r>
            <a:endParaRPr lang="en-US" sz="46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713232"/>
            <a:ext cx="1298448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797357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6968" y="76352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TapEngine</a:t>
            </a:r>
            <a:endParaRPr lang="en-US" sz="540" dirty="0"/>
          </a:p>
        </p:txBody>
      </p:sp>
      <p:sp>
        <p:nvSpPr>
          <p:cNvPr id="5" name="Shape 3"/>
          <p:cNvSpPr/>
          <p:nvPr/>
        </p:nvSpPr>
        <p:spPr>
          <a:xfrm>
            <a:off x="10972800" y="71323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73384" y="797357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83112" y="76352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11</a:t>
            </a:r>
            <a:endParaRPr lang="en-US" sz="540" dirty="0"/>
          </a:p>
        </p:txBody>
      </p:sp>
      <p:sp>
        <p:nvSpPr>
          <p:cNvPr id="8" name="Text 6"/>
          <p:cNvSpPr/>
          <p:nvPr/>
        </p:nvSpPr>
        <p:spPr>
          <a:xfrm>
            <a:off x="11018520" y="651967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11</a:t>
            </a:r>
            <a:endParaRPr lang="en-US" sz="520" dirty="0"/>
          </a:p>
        </p:txBody>
      </p:sp>
      <p:sp>
        <p:nvSpPr>
          <p:cNvPr id="9" name="Text 7"/>
          <p:cNvSpPr/>
          <p:nvPr/>
        </p:nvSpPr>
        <p:spPr>
          <a:xfrm>
            <a:off x="676656" y="2468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TapEngine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6656" y="30175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Centraal AI-systeem dat digitale content maakt van lesmateriaal.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440680" y="2331720"/>
            <a:ext cx="5440680" cy="356616"/>
          </a:xfrm>
          <a:prstGeom prst="roundRect">
            <a:avLst>
              <a:gd name="adj" fmla="val 1794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50408" y="2404872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3268" y="2402129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14" name="Text 12"/>
          <p:cNvSpPr/>
          <p:nvPr/>
        </p:nvSpPr>
        <p:spPr>
          <a:xfrm>
            <a:off x="5751576" y="2400300"/>
            <a:ext cx="5001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lesmateriaal, hoofdstukken en afbeeldingen.</a:t>
            </a:r>
            <a:endParaRPr lang="en-US" sz="610" dirty="0"/>
          </a:p>
        </p:txBody>
      </p:sp>
      <p:sp>
        <p:nvSpPr>
          <p:cNvPr id="15" name="Shape 13"/>
          <p:cNvSpPr/>
          <p:nvPr/>
        </p:nvSpPr>
        <p:spPr>
          <a:xfrm>
            <a:off x="5440680" y="2788920"/>
            <a:ext cx="5440680" cy="356616"/>
          </a:xfrm>
          <a:prstGeom prst="roundRect">
            <a:avLst>
              <a:gd name="adj" fmla="val 1794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50408" y="2862072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3268" y="2859329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18" name="Text 16"/>
          <p:cNvSpPr/>
          <p:nvPr/>
        </p:nvSpPr>
        <p:spPr>
          <a:xfrm>
            <a:off x="5751576" y="2857500"/>
            <a:ext cx="5001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Zet de inhoud om naar een doorzoekbare kennislaag, zodat AI antwoorden geeft vanuit de juiste bron.</a:t>
            </a:r>
            <a:endParaRPr lang="en-US" sz="610" dirty="0"/>
          </a:p>
        </p:txBody>
      </p:sp>
      <p:sp>
        <p:nvSpPr>
          <p:cNvPr id="19" name="Shape 17"/>
          <p:cNvSpPr/>
          <p:nvPr/>
        </p:nvSpPr>
        <p:spPr>
          <a:xfrm>
            <a:off x="5440680" y="3246120"/>
            <a:ext cx="5440680" cy="356616"/>
          </a:xfrm>
          <a:prstGeom prst="roundRect">
            <a:avLst>
              <a:gd name="adj" fmla="val 1794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50408" y="3319272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3268" y="3316529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22" name="Text 20"/>
          <p:cNvSpPr/>
          <p:nvPr/>
        </p:nvSpPr>
        <p:spPr>
          <a:xfrm>
            <a:off x="5751576" y="3314700"/>
            <a:ext cx="5001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Slaat de volgorde en structuur van het boek op, zodat de leerroute logisch blijft.</a:t>
            </a:r>
            <a:endParaRPr lang="en-US" sz="6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713232"/>
            <a:ext cx="1298448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797357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6968" y="76352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MCP-systeem</a:t>
            </a:r>
            <a:endParaRPr lang="en-US" sz="540" dirty="0"/>
          </a:p>
        </p:txBody>
      </p:sp>
      <p:sp>
        <p:nvSpPr>
          <p:cNvPr id="5" name="Shape 3"/>
          <p:cNvSpPr/>
          <p:nvPr/>
        </p:nvSpPr>
        <p:spPr>
          <a:xfrm>
            <a:off x="10972800" y="71323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73384" y="797357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83112" y="76352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11</a:t>
            </a:r>
            <a:endParaRPr lang="en-US" sz="540" dirty="0"/>
          </a:p>
        </p:txBody>
      </p:sp>
      <p:sp>
        <p:nvSpPr>
          <p:cNvPr id="8" name="Text 6"/>
          <p:cNvSpPr/>
          <p:nvPr/>
        </p:nvSpPr>
        <p:spPr>
          <a:xfrm>
            <a:off x="11018520" y="651967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11</a:t>
            </a:r>
            <a:endParaRPr lang="en-US" sz="520" dirty="0"/>
          </a:p>
        </p:txBody>
      </p:sp>
      <p:sp>
        <p:nvSpPr>
          <p:cNvPr id="9" name="Text 7"/>
          <p:cNvSpPr/>
          <p:nvPr/>
        </p:nvSpPr>
        <p:spPr>
          <a:xfrm>
            <a:off x="676656" y="24688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TapEngine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76656" y="30175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MCP-systeem voor educatie. Per hoofdstuk kunnen we automatisch leeronderdelen maken.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5440680" y="2331720"/>
            <a:ext cx="5440680" cy="356616"/>
          </a:xfrm>
          <a:prstGeom prst="roundRect">
            <a:avLst>
              <a:gd name="adj" fmla="val 1794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50408" y="2404872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3268" y="2402129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14" name="Text 12"/>
          <p:cNvSpPr/>
          <p:nvPr/>
        </p:nvSpPr>
        <p:spPr>
          <a:xfrm>
            <a:off x="5751576" y="2400300"/>
            <a:ext cx="5001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Podcasts</a:t>
            </a:r>
            <a:endParaRPr lang="en-US" sz="610" dirty="0"/>
          </a:p>
        </p:txBody>
      </p:sp>
      <p:sp>
        <p:nvSpPr>
          <p:cNvPr id="15" name="Shape 13"/>
          <p:cNvSpPr/>
          <p:nvPr/>
        </p:nvSpPr>
        <p:spPr>
          <a:xfrm>
            <a:off x="5440680" y="2788920"/>
            <a:ext cx="5440680" cy="356616"/>
          </a:xfrm>
          <a:prstGeom prst="roundRect">
            <a:avLst>
              <a:gd name="adj" fmla="val 1794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50408" y="2862072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3268" y="2859329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18" name="Text 16"/>
          <p:cNvSpPr/>
          <p:nvPr/>
        </p:nvSpPr>
        <p:spPr>
          <a:xfrm>
            <a:off x="5751576" y="2857500"/>
            <a:ext cx="5001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Quizzen en adaptieve quizzen</a:t>
            </a:r>
            <a:endParaRPr lang="en-US" sz="610" dirty="0"/>
          </a:p>
        </p:txBody>
      </p:sp>
      <p:sp>
        <p:nvSpPr>
          <p:cNvPr id="19" name="Shape 17"/>
          <p:cNvSpPr/>
          <p:nvPr/>
        </p:nvSpPr>
        <p:spPr>
          <a:xfrm>
            <a:off x="5440680" y="3246120"/>
            <a:ext cx="5440680" cy="356616"/>
          </a:xfrm>
          <a:prstGeom prst="roundRect">
            <a:avLst>
              <a:gd name="adj" fmla="val 1794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50408" y="3319272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3268" y="3316529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22" name="Text 20"/>
          <p:cNvSpPr/>
          <p:nvPr/>
        </p:nvSpPr>
        <p:spPr>
          <a:xfrm>
            <a:off x="5751576" y="3314700"/>
            <a:ext cx="5001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vragen met nakijkhulp</a:t>
            </a:r>
            <a:endParaRPr lang="en-US" sz="610" dirty="0"/>
          </a:p>
        </p:txBody>
      </p:sp>
      <p:sp>
        <p:nvSpPr>
          <p:cNvPr id="23" name="Shape 21"/>
          <p:cNvSpPr/>
          <p:nvPr/>
        </p:nvSpPr>
        <p:spPr>
          <a:xfrm>
            <a:off x="5440680" y="3703320"/>
            <a:ext cx="5440680" cy="356616"/>
          </a:xfrm>
          <a:prstGeom prst="roundRect">
            <a:avLst>
              <a:gd name="adj" fmla="val 1794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50408" y="3776472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73268" y="3773729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26" name="Text 24"/>
          <p:cNvSpPr/>
          <p:nvPr/>
        </p:nvSpPr>
        <p:spPr>
          <a:xfrm>
            <a:off x="5751576" y="3771900"/>
            <a:ext cx="5001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Werkboeken</a:t>
            </a:r>
            <a:endParaRPr lang="en-US" sz="610" dirty="0"/>
          </a:p>
        </p:txBody>
      </p:sp>
      <p:sp>
        <p:nvSpPr>
          <p:cNvPr id="27" name="Shape 25"/>
          <p:cNvSpPr/>
          <p:nvPr/>
        </p:nvSpPr>
        <p:spPr>
          <a:xfrm>
            <a:off x="5440680" y="4160520"/>
            <a:ext cx="5440680" cy="356616"/>
          </a:xfrm>
          <a:prstGeom prst="roundRect">
            <a:avLst>
              <a:gd name="adj" fmla="val 1794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550408" y="4233672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73268" y="4230929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30" name="Text 28"/>
          <p:cNvSpPr/>
          <p:nvPr/>
        </p:nvSpPr>
        <p:spPr>
          <a:xfrm>
            <a:off x="5751576" y="4229100"/>
            <a:ext cx="5001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Presentaties met hergebruik van afbeeldingen</a:t>
            </a:r>
            <a:endParaRPr lang="en-US" sz="610" dirty="0"/>
          </a:p>
        </p:txBody>
      </p:sp>
      <p:sp>
        <p:nvSpPr>
          <p:cNvPr id="31" name="Shape 29"/>
          <p:cNvSpPr/>
          <p:nvPr/>
        </p:nvSpPr>
        <p:spPr>
          <a:xfrm>
            <a:off x="5440680" y="4617720"/>
            <a:ext cx="5440680" cy="356616"/>
          </a:xfrm>
          <a:prstGeom prst="roundRect">
            <a:avLst>
              <a:gd name="adj" fmla="val 1794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50408" y="4690872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573268" y="4688129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34" name="Text 32"/>
          <p:cNvSpPr/>
          <p:nvPr/>
        </p:nvSpPr>
        <p:spPr>
          <a:xfrm>
            <a:off x="5751576" y="4686300"/>
            <a:ext cx="5001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Korte videoscribes</a:t>
            </a:r>
            <a:endParaRPr lang="en-US" sz="610" dirty="0"/>
          </a:p>
        </p:txBody>
      </p:sp>
      <p:sp>
        <p:nvSpPr>
          <p:cNvPr id="35" name="Shape 33"/>
          <p:cNvSpPr/>
          <p:nvPr/>
        </p:nvSpPr>
        <p:spPr>
          <a:xfrm>
            <a:off x="5440680" y="5074920"/>
            <a:ext cx="5440680" cy="356616"/>
          </a:xfrm>
          <a:prstGeom prst="roundRect">
            <a:avLst>
              <a:gd name="adj" fmla="val 1794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50408" y="5148072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73268" y="5145329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38" name="Text 36"/>
          <p:cNvSpPr/>
          <p:nvPr/>
        </p:nvSpPr>
        <p:spPr>
          <a:xfrm>
            <a:off x="5751576" y="5143500"/>
            <a:ext cx="5001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met een specifiek hoofdstuk of met het hele boek, inclusief bronverwijzing.</a:t>
            </a:r>
            <a:endParaRPr lang="en-US" sz="610" dirty="0"/>
          </a:p>
        </p:txBody>
      </p:sp>
      <p:sp>
        <p:nvSpPr>
          <p:cNvPr id="39" name="Shape 37"/>
          <p:cNvSpPr/>
          <p:nvPr/>
        </p:nvSpPr>
        <p:spPr>
          <a:xfrm>
            <a:off x="5440680" y="5532120"/>
            <a:ext cx="5440680" cy="356616"/>
          </a:xfrm>
          <a:prstGeom prst="roundRect">
            <a:avLst>
              <a:gd name="adj" fmla="val 1794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50408" y="5605272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73268" y="5602529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42" name="Text 40"/>
          <p:cNvSpPr/>
          <p:nvPr/>
        </p:nvSpPr>
        <p:spPr>
          <a:xfrm>
            <a:off x="5751576" y="5600700"/>
            <a:ext cx="50017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Opbouw van een AI-leerlingprofiel: wat beheerst de leerling, en waar is extra uitleg nodig?</a:t>
            </a:r>
            <a:endParaRPr lang="en-US" sz="6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" y="1097280"/>
            <a:ext cx="164592" cy="16459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6656" y="25146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Technische voorbeelden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713232"/>
            <a:ext cx="1298448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797357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6968" y="76352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</a:t>
            </a:r>
            <a:endParaRPr lang="en-US" sz="540" dirty="0"/>
          </a:p>
        </p:txBody>
      </p:sp>
      <p:sp>
        <p:nvSpPr>
          <p:cNvPr id="5" name="Shape 3"/>
          <p:cNvSpPr/>
          <p:nvPr/>
        </p:nvSpPr>
        <p:spPr>
          <a:xfrm>
            <a:off x="10972800" y="71323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73384" y="797357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83112" y="76352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11</a:t>
            </a:r>
            <a:endParaRPr lang="en-US" sz="540" dirty="0"/>
          </a:p>
        </p:txBody>
      </p:sp>
      <p:sp>
        <p:nvSpPr>
          <p:cNvPr id="8" name="Text 6"/>
          <p:cNvSpPr/>
          <p:nvPr/>
        </p:nvSpPr>
        <p:spPr>
          <a:xfrm>
            <a:off x="11018520" y="651967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11</a:t>
            </a:r>
            <a:endParaRPr lang="en-US" sz="520" dirty="0"/>
          </a:p>
        </p:txBody>
      </p:sp>
      <p:sp>
        <p:nvSpPr>
          <p:cNvPr id="9" name="Text 7"/>
          <p:cNvSpPr/>
          <p:nvPr/>
        </p:nvSpPr>
        <p:spPr>
          <a:xfrm>
            <a:off x="676656" y="1325880"/>
            <a:ext cx="4389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TapEngine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6035040" y="13898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MCP-systeem voor educatie: losse skills die samen een leerervaring vormen.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6656" y="2788920"/>
            <a:ext cx="2487168" cy="1874520"/>
          </a:xfrm>
          <a:prstGeom prst="roundRect">
            <a:avLst>
              <a:gd name="adj" fmla="val 7805"/>
            </a:avLst>
          </a:prstGeom>
          <a:solidFill>
            <a:srgbClr val="EEF7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05256" y="299923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FF5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580" dirty="0"/>
          </a:p>
        </p:txBody>
      </p:sp>
      <p:sp>
        <p:nvSpPr>
          <p:cNvPr id="13" name="Shape 11"/>
          <p:cNvSpPr/>
          <p:nvPr/>
        </p:nvSpPr>
        <p:spPr>
          <a:xfrm>
            <a:off x="2560320" y="29535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33472" y="3022092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5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□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05256" y="347472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Samenvatten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905256" y="388620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Lesmateriaal omzetten naar duidelijke uitleg.</a:t>
            </a:r>
            <a:endParaRPr lang="en-US" sz="720" dirty="0"/>
          </a:p>
        </p:txBody>
      </p:sp>
      <p:sp>
        <p:nvSpPr>
          <p:cNvPr id="17" name="Shape 15"/>
          <p:cNvSpPr/>
          <p:nvPr/>
        </p:nvSpPr>
        <p:spPr>
          <a:xfrm>
            <a:off x="3447288" y="2788920"/>
            <a:ext cx="2487168" cy="1874520"/>
          </a:xfrm>
          <a:prstGeom prst="roundRect">
            <a:avLst>
              <a:gd name="adj" fmla="val 7805"/>
            </a:avLst>
          </a:prstGeom>
          <a:solidFill>
            <a:srgbClr val="EEF8EE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75888" y="299923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FF5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580" dirty="0"/>
          </a:p>
        </p:txBody>
      </p:sp>
      <p:sp>
        <p:nvSpPr>
          <p:cNvPr id="19" name="Shape 17"/>
          <p:cNvSpPr/>
          <p:nvPr/>
        </p:nvSpPr>
        <p:spPr>
          <a:xfrm>
            <a:off x="5330952" y="29535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04104" y="3022092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5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✦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75888" y="347472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Genereren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675888" y="388620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Vragen, quizzen, werkboeken en presentaties maken.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6217920" y="2788920"/>
            <a:ext cx="2487168" cy="1874520"/>
          </a:xfrm>
          <a:prstGeom prst="roundRect">
            <a:avLst>
              <a:gd name="adj" fmla="val 7805"/>
            </a:avLst>
          </a:prstGeom>
          <a:solidFill>
            <a:srgbClr val="FFF6D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299923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FF5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580" dirty="0"/>
          </a:p>
        </p:txBody>
      </p:sp>
      <p:sp>
        <p:nvSpPr>
          <p:cNvPr id="25" name="Shape 23"/>
          <p:cNvSpPr/>
          <p:nvPr/>
        </p:nvSpPr>
        <p:spPr>
          <a:xfrm>
            <a:off x="8101584" y="29535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74736" y="3022092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5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6446520" y="347472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Controleren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46520" y="388620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Bronnen en kwaliteit bewaken voor educatief gebruik.</a:t>
            </a:r>
            <a:endParaRPr lang="en-US" sz="720" dirty="0"/>
          </a:p>
        </p:txBody>
      </p:sp>
      <p:sp>
        <p:nvSpPr>
          <p:cNvPr id="29" name="Shape 27"/>
          <p:cNvSpPr/>
          <p:nvPr/>
        </p:nvSpPr>
        <p:spPr>
          <a:xfrm>
            <a:off x="8988552" y="2788920"/>
            <a:ext cx="2487168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17152" y="2999232"/>
            <a:ext cx="457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b="1" dirty="0">
                <a:solidFill>
                  <a:srgbClr val="FF5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580" dirty="0"/>
          </a:p>
        </p:txBody>
      </p:sp>
      <p:sp>
        <p:nvSpPr>
          <p:cNvPr id="31" name="Shape 29"/>
          <p:cNvSpPr/>
          <p:nvPr/>
        </p:nvSpPr>
        <p:spPr>
          <a:xfrm>
            <a:off x="10872216" y="2953512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945368" y="3022092"/>
            <a:ext cx="219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5A1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↗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9217152" y="3474720"/>
            <a:ext cx="2029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Bijsturen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9217152" y="388620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Leerlingdata vertalen naar passende vervolgstappen.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713232"/>
            <a:ext cx="1298448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797357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6968" y="76352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Manier 1</a:t>
            </a:r>
            <a:endParaRPr lang="en-US" sz="540" dirty="0"/>
          </a:p>
        </p:txBody>
      </p:sp>
      <p:sp>
        <p:nvSpPr>
          <p:cNvPr id="5" name="Shape 3"/>
          <p:cNvSpPr/>
          <p:nvPr/>
        </p:nvSpPr>
        <p:spPr>
          <a:xfrm>
            <a:off x="10972800" y="71323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73384" y="797357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83112" y="76352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11</a:t>
            </a:r>
            <a:endParaRPr lang="en-US" sz="540" dirty="0"/>
          </a:p>
        </p:txBody>
      </p:sp>
      <p:sp>
        <p:nvSpPr>
          <p:cNvPr id="8" name="Text 6"/>
          <p:cNvSpPr/>
          <p:nvPr/>
        </p:nvSpPr>
        <p:spPr>
          <a:xfrm>
            <a:off x="11018520" y="651967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11</a:t>
            </a:r>
            <a:endParaRPr lang="en-US" sz="520" dirty="0"/>
          </a:p>
        </p:txBody>
      </p:sp>
      <p:sp>
        <p:nvSpPr>
          <p:cNvPr id="9" name="Shape 7"/>
          <p:cNvSpPr/>
          <p:nvPr/>
        </p:nvSpPr>
        <p:spPr>
          <a:xfrm>
            <a:off x="676656" y="1389888"/>
            <a:ext cx="1463040" cy="2286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478585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44018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Pilotomgeving</a:t>
            </a:r>
            <a:endParaRPr lang="en-US" sz="540" dirty="0"/>
          </a:p>
        </p:txBody>
      </p:sp>
      <p:sp>
        <p:nvSpPr>
          <p:cNvPr id="12" name="Text 10"/>
          <p:cNvSpPr/>
          <p:nvPr/>
        </p:nvSpPr>
        <p:spPr>
          <a:xfrm>
            <a:off x="676656" y="222199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 kan het eruitzien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6656" y="29809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Manier 1: Tapwise UI. Een aparte Tapwise-omgeving om snel te testen met leerlingen.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676656" y="3675888"/>
            <a:ext cx="4343400" cy="265176"/>
          </a:xfrm>
          <a:prstGeom prst="roundRect">
            <a:avLst>
              <a:gd name="adj" fmla="val 24138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749040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" y="3746297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17" name="Text 15"/>
          <p:cNvSpPr/>
          <p:nvPr/>
        </p:nvSpPr>
        <p:spPr>
          <a:xfrm>
            <a:off x="987552" y="3744468"/>
            <a:ext cx="3904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Snelle pilot zonder grote technische integratie</a:t>
            </a:r>
            <a:endParaRPr lang="en-US" sz="610" dirty="0"/>
          </a:p>
        </p:txBody>
      </p:sp>
      <p:sp>
        <p:nvSpPr>
          <p:cNvPr id="18" name="Shape 16"/>
          <p:cNvSpPr/>
          <p:nvPr/>
        </p:nvSpPr>
        <p:spPr>
          <a:xfrm>
            <a:off x="676656" y="4041648"/>
            <a:ext cx="4343400" cy="265176"/>
          </a:xfrm>
          <a:prstGeom prst="roundRect">
            <a:avLst>
              <a:gd name="adj" fmla="val 24138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" y="4114800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" y="4112057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21" name="Text 19"/>
          <p:cNvSpPr/>
          <p:nvPr/>
        </p:nvSpPr>
        <p:spPr>
          <a:xfrm>
            <a:off x="987552" y="4110228"/>
            <a:ext cx="3904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Malmberg-content in een begeleide route</a:t>
            </a:r>
            <a:endParaRPr lang="en-US" sz="610" dirty="0"/>
          </a:p>
        </p:txBody>
      </p:sp>
      <p:sp>
        <p:nvSpPr>
          <p:cNvPr id="22" name="Shape 20"/>
          <p:cNvSpPr/>
          <p:nvPr/>
        </p:nvSpPr>
        <p:spPr>
          <a:xfrm>
            <a:off x="676656" y="4407408"/>
            <a:ext cx="4343400" cy="265176"/>
          </a:xfrm>
          <a:prstGeom prst="roundRect">
            <a:avLst>
              <a:gd name="adj" fmla="val 24138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" y="4480560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244" y="4477817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25" name="Text 23"/>
          <p:cNvSpPr/>
          <p:nvPr/>
        </p:nvSpPr>
        <p:spPr>
          <a:xfrm>
            <a:off x="987552" y="4475988"/>
            <a:ext cx="3904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 zichtbaar hoe leerlingen oefenen</a:t>
            </a:r>
            <a:endParaRPr lang="en-US" sz="610" dirty="0"/>
          </a:p>
        </p:txBody>
      </p:sp>
      <p:sp>
        <p:nvSpPr>
          <p:cNvPr id="26" name="Shape 24"/>
          <p:cNvSpPr/>
          <p:nvPr/>
        </p:nvSpPr>
        <p:spPr>
          <a:xfrm>
            <a:off x="5705856" y="1655064"/>
            <a:ext cx="5166360" cy="3246120"/>
          </a:xfrm>
          <a:prstGeom prst="roundRect">
            <a:avLst>
              <a:gd name="adj" fmla="val 5070"/>
            </a:avLst>
          </a:prstGeom>
          <a:solidFill>
            <a:srgbClr val="D8D2CA">
              <a:alpha val="26000"/>
            </a:srgbClr>
          </a:solidFill>
          <a:ln w="12700">
            <a:solidFill>
              <a:srgbClr val="D8D2CA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50992" y="1600200"/>
            <a:ext cx="5166360" cy="3246120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pic>
        <p:nvPicPr>
          <p:cNvPr id="28" name="Image 0" descr="/Users/woutervanrijmenam/Documents/Projects/Qraft/projects/tapwise/tools/presentations/decks/tapwise-malmberg-slimme-leerlaag-tap-20260608/assets/tapwise-ui-pilo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52160" y="1764792"/>
            <a:ext cx="4764024" cy="2898648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5943600" y="4462272"/>
            <a:ext cx="1920240" cy="192024"/>
          </a:xfrm>
          <a:prstGeom prst="roundRect">
            <a:avLst>
              <a:gd name="adj" fmla="val 4761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035040" y="4517136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 UI als snelle pilot</a:t>
            </a:r>
            <a:endParaRPr lang="en-US" sz="4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713232"/>
            <a:ext cx="1298448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797357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6968" y="76352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Manier 2</a:t>
            </a:r>
            <a:endParaRPr lang="en-US" sz="540" dirty="0"/>
          </a:p>
        </p:txBody>
      </p:sp>
      <p:sp>
        <p:nvSpPr>
          <p:cNvPr id="5" name="Shape 3"/>
          <p:cNvSpPr/>
          <p:nvPr/>
        </p:nvSpPr>
        <p:spPr>
          <a:xfrm>
            <a:off x="10972800" y="71323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73384" y="797357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83112" y="76352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11</a:t>
            </a:r>
            <a:endParaRPr lang="en-US" sz="540" dirty="0"/>
          </a:p>
        </p:txBody>
      </p:sp>
      <p:sp>
        <p:nvSpPr>
          <p:cNvPr id="8" name="Text 6"/>
          <p:cNvSpPr/>
          <p:nvPr/>
        </p:nvSpPr>
        <p:spPr>
          <a:xfrm>
            <a:off x="11018520" y="651967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11</a:t>
            </a:r>
            <a:endParaRPr lang="en-US" sz="520" dirty="0"/>
          </a:p>
        </p:txBody>
      </p:sp>
      <p:sp>
        <p:nvSpPr>
          <p:cNvPr id="9" name="Shape 7"/>
          <p:cNvSpPr/>
          <p:nvPr/>
        </p:nvSpPr>
        <p:spPr>
          <a:xfrm>
            <a:off x="676656" y="1389888"/>
            <a:ext cx="1463040" cy="2286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478585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44018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Integratie</a:t>
            </a:r>
            <a:endParaRPr lang="en-US" sz="540" dirty="0"/>
          </a:p>
        </p:txBody>
      </p:sp>
      <p:sp>
        <p:nvSpPr>
          <p:cNvPr id="12" name="Text 10"/>
          <p:cNvSpPr/>
          <p:nvPr/>
        </p:nvSpPr>
        <p:spPr>
          <a:xfrm>
            <a:off x="676656" y="222199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Ingebouwd in Malmberg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6656" y="29809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Manier 2: integratie. TapEngine draait achter de schermen en voedt onderdelen in de Malmberg-omgeving.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676656" y="3675888"/>
            <a:ext cx="4343400" cy="265176"/>
          </a:xfrm>
          <a:prstGeom prst="roundRect">
            <a:avLst>
              <a:gd name="adj" fmla="val 24138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749040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" y="3746297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17" name="Text 15"/>
          <p:cNvSpPr/>
          <p:nvPr/>
        </p:nvSpPr>
        <p:spPr>
          <a:xfrm>
            <a:off x="987552" y="3744468"/>
            <a:ext cx="3904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Malmberg bepaalt wat zichtbaar wordt</a:t>
            </a:r>
            <a:endParaRPr lang="en-US" sz="610" dirty="0"/>
          </a:p>
        </p:txBody>
      </p:sp>
      <p:sp>
        <p:nvSpPr>
          <p:cNvPr id="18" name="Shape 16"/>
          <p:cNvSpPr/>
          <p:nvPr/>
        </p:nvSpPr>
        <p:spPr>
          <a:xfrm>
            <a:off x="676656" y="4041648"/>
            <a:ext cx="4343400" cy="265176"/>
          </a:xfrm>
          <a:prstGeom prst="roundRect">
            <a:avLst>
              <a:gd name="adj" fmla="val 24138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" y="4114800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" y="4112057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21" name="Text 19"/>
          <p:cNvSpPr/>
          <p:nvPr/>
        </p:nvSpPr>
        <p:spPr>
          <a:xfrm>
            <a:off x="987552" y="4110228"/>
            <a:ext cx="3904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AI-functionaliteit stap voor stap toevoegen</a:t>
            </a:r>
            <a:endParaRPr lang="en-US" sz="610" dirty="0"/>
          </a:p>
        </p:txBody>
      </p:sp>
      <p:sp>
        <p:nvSpPr>
          <p:cNvPr id="22" name="Shape 20"/>
          <p:cNvSpPr/>
          <p:nvPr/>
        </p:nvSpPr>
        <p:spPr>
          <a:xfrm>
            <a:off x="676656" y="4407408"/>
            <a:ext cx="4343400" cy="265176"/>
          </a:xfrm>
          <a:prstGeom prst="roundRect">
            <a:avLst>
              <a:gd name="adj" fmla="val 24138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" y="4480560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244" y="4477817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25" name="Text 23"/>
          <p:cNvSpPr/>
          <p:nvPr/>
        </p:nvSpPr>
        <p:spPr>
          <a:xfrm>
            <a:off x="987552" y="4475988"/>
            <a:ext cx="3904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Bestaande leeromgeving blijft leidend</a:t>
            </a:r>
            <a:endParaRPr lang="en-US" sz="610" dirty="0"/>
          </a:p>
        </p:txBody>
      </p:sp>
      <p:sp>
        <p:nvSpPr>
          <p:cNvPr id="26" name="Shape 24"/>
          <p:cNvSpPr/>
          <p:nvPr/>
        </p:nvSpPr>
        <p:spPr>
          <a:xfrm>
            <a:off x="5705856" y="1655064"/>
            <a:ext cx="5166360" cy="3246120"/>
          </a:xfrm>
          <a:prstGeom prst="roundRect">
            <a:avLst>
              <a:gd name="adj" fmla="val 5070"/>
            </a:avLst>
          </a:prstGeom>
          <a:solidFill>
            <a:srgbClr val="D8D2CA">
              <a:alpha val="26000"/>
            </a:srgbClr>
          </a:solidFill>
          <a:ln w="12700">
            <a:solidFill>
              <a:srgbClr val="D8D2CA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50992" y="1600200"/>
            <a:ext cx="5166360" cy="3246120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pic>
        <p:nvPicPr>
          <p:cNvPr id="28" name="Image 0" descr="/Users/woutervanrijmenam/Documents/Projects/Qraft/projects/tapwise/tools/presentations/decks/tapwise-malmberg-slimme-leerlaag-tap-20260608/assets/tapwise-integratio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52160" y="1764792"/>
            <a:ext cx="4764024" cy="2898648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5943600" y="4462272"/>
            <a:ext cx="1920240" cy="192024"/>
          </a:xfrm>
          <a:prstGeom prst="roundRect">
            <a:avLst>
              <a:gd name="adj" fmla="val 4761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035040" y="4517136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TapEngine achter de schermen</a:t>
            </a:r>
            <a:endParaRPr lang="en-US" sz="4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713232"/>
            <a:ext cx="1298448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797357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6968" y="76352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Manier 3</a:t>
            </a:r>
            <a:endParaRPr lang="en-US" sz="540" dirty="0"/>
          </a:p>
        </p:txBody>
      </p:sp>
      <p:sp>
        <p:nvSpPr>
          <p:cNvPr id="5" name="Shape 3"/>
          <p:cNvSpPr/>
          <p:nvPr/>
        </p:nvSpPr>
        <p:spPr>
          <a:xfrm>
            <a:off x="10972800" y="71323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73384" y="797357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83112" y="76352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11</a:t>
            </a:r>
            <a:endParaRPr lang="en-US" sz="540" dirty="0"/>
          </a:p>
        </p:txBody>
      </p:sp>
      <p:sp>
        <p:nvSpPr>
          <p:cNvPr id="8" name="Text 6"/>
          <p:cNvSpPr/>
          <p:nvPr/>
        </p:nvSpPr>
        <p:spPr>
          <a:xfrm>
            <a:off x="11018520" y="651967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11</a:t>
            </a:r>
            <a:endParaRPr lang="en-US" sz="520" dirty="0"/>
          </a:p>
        </p:txBody>
      </p:sp>
      <p:sp>
        <p:nvSpPr>
          <p:cNvPr id="9" name="Shape 7"/>
          <p:cNvSpPr/>
          <p:nvPr/>
        </p:nvSpPr>
        <p:spPr>
          <a:xfrm>
            <a:off x="676656" y="1389888"/>
            <a:ext cx="1463040" cy="2286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478585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44018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Kanalen</a:t>
            </a:r>
            <a:endParaRPr lang="en-US" sz="540" dirty="0"/>
          </a:p>
        </p:txBody>
      </p:sp>
      <p:sp>
        <p:nvSpPr>
          <p:cNvPr id="12" name="Text 10"/>
          <p:cNvSpPr/>
          <p:nvPr/>
        </p:nvSpPr>
        <p:spPr>
          <a:xfrm>
            <a:off x="676656" y="222199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Hulp op plekken die leerlingen al gebruiken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6656" y="29809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Manier 3: WhatsApp, Snapchat, Telegram of een ander kanaal.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676656" y="3675888"/>
            <a:ext cx="4343400" cy="265176"/>
          </a:xfrm>
          <a:prstGeom prst="roundRect">
            <a:avLst>
              <a:gd name="adj" fmla="val 24138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749040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" y="3746297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17" name="Text 15"/>
          <p:cNvSpPr/>
          <p:nvPr/>
        </p:nvSpPr>
        <p:spPr>
          <a:xfrm>
            <a:off x="987552" y="3744468"/>
            <a:ext cx="3904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Leerlingen stellen vragen in een kanaal dat ze al gebruiken</a:t>
            </a:r>
            <a:endParaRPr lang="en-US" sz="610" dirty="0"/>
          </a:p>
        </p:txBody>
      </p:sp>
      <p:sp>
        <p:nvSpPr>
          <p:cNvPr id="18" name="Shape 16"/>
          <p:cNvSpPr/>
          <p:nvPr/>
        </p:nvSpPr>
        <p:spPr>
          <a:xfrm>
            <a:off x="676656" y="4041648"/>
            <a:ext cx="4343400" cy="265176"/>
          </a:xfrm>
          <a:prstGeom prst="roundRect">
            <a:avLst>
              <a:gd name="adj" fmla="val 24138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" y="4114800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" y="4112057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21" name="Text 19"/>
          <p:cNvSpPr/>
          <p:nvPr/>
        </p:nvSpPr>
        <p:spPr>
          <a:xfrm>
            <a:off x="987552" y="4110228"/>
            <a:ext cx="3904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Antwoorden blijven gekoppeld aan de Malmberg-bron</a:t>
            </a:r>
            <a:endParaRPr lang="en-US" sz="610" dirty="0"/>
          </a:p>
        </p:txBody>
      </p:sp>
      <p:sp>
        <p:nvSpPr>
          <p:cNvPr id="22" name="Shape 20"/>
          <p:cNvSpPr/>
          <p:nvPr/>
        </p:nvSpPr>
        <p:spPr>
          <a:xfrm>
            <a:off x="676656" y="4407408"/>
            <a:ext cx="4343400" cy="265176"/>
          </a:xfrm>
          <a:prstGeom prst="roundRect">
            <a:avLst>
              <a:gd name="adj" fmla="val 24138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" y="4480560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244" y="4477817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25" name="Text 23"/>
          <p:cNvSpPr/>
          <p:nvPr/>
        </p:nvSpPr>
        <p:spPr>
          <a:xfrm>
            <a:off x="987552" y="4475988"/>
            <a:ext cx="3904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Handig voor korte herhaling, uitleg en reminders</a:t>
            </a:r>
            <a:endParaRPr lang="en-US" sz="610" dirty="0"/>
          </a:p>
        </p:txBody>
      </p:sp>
      <p:sp>
        <p:nvSpPr>
          <p:cNvPr id="26" name="Shape 24"/>
          <p:cNvSpPr/>
          <p:nvPr/>
        </p:nvSpPr>
        <p:spPr>
          <a:xfrm>
            <a:off x="5705856" y="1655064"/>
            <a:ext cx="5166360" cy="3246120"/>
          </a:xfrm>
          <a:prstGeom prst="roundRect">
            <a:avLst>
              <a:gd name="adj" fmla="val 5070"/>
            </a:avLst>
          </a:prstGeom>
          <a:solidFill>
            <a:srgbClr val="D8D2CA">
              <a:alpha val="26000"/>
            </a:srgbClr>
          </a:solidFill>
          <a:ln w="12700">
            <a:solidFill>
              <a:srgbClr val="D8D2CA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50992" y="1600200"/>
            <a:ext cx="5166360" cy="3246120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pic>
        <p:nvPicPr>
          <p:cNvPr id="28" name="Image 0" descr="/Users/woutervanrijmenam/Documents/Projects/Qraft/projects/tapwise/tools/presentations/decks/tapwise-malmberg-slimme-leerlaag-tap-20260608/assets/tapwise-chat-channels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52160" y="1764792"/>
            <a:ext cx="4764024" cy="2898648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5943600" y="4462272"/>
            <a:ext cx="1920240" cy="192024"/>
          </a:xfrm>
          <a:prstGeom prst="roundRect">
            <a:avLst>
              <a:gd name="adj" fmla="val 4761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035040" y="4517136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Een bron, meerdere voordeuren</a:t>
            </a:r>
            <a:endParaRPr lang="en-US" sz="4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713232"/>
            <a:ext cx="1298448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797357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6968" y="76352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Kanalen</a:t>
            </a:r>
            <a:endParaRPr lang="en-US" sz="540" dirty="0"/>
          </a:p>
        </p:txBody>
      </p:sp>
      <p:sp>
        <p:nvSpPr>
          <p:cNvPr id="5" name="Shape 3"/>
          <p:cNvSpPr/>
          <p:nvPr/>
        </p:nvSpPr>
        <p:spPr>
          <a:xfrm>
            <a:off x="10972800" y="71323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73384" y="797357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83112" y="76352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11</a:t>
            </a:r>
            <a:endParaRPr lang="en-US" sz="540" dirty="0"/>
          </a:p>
        </p:txBody>
      </p:sp>
      <p:sp>
        <p:nvSpPr>
          <p:cNvPr id="8" name="Text 6"/>
          <p:cNvSpPr/>
          <p:nvPr/>
        </p:nvSpPr>
        <p:spPr>
          <a:xfrm>
            <a:off x="11018520" y="651967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11</a:t>
            </a:r>
            <a:endParaRPr lang="en-US" sz="520" dirty="0"/>
          </a:p>
        </p:txBody>
      </p:sp>
      <p:sp>
        <p:nvSpPr>
          <p:cNvPr id="9" name="Shape 7"/>
          <p:cNvSpPr/>
          <p:nvPr/>
        </p:nvSpPr>
        <p:spPr>
          <a:xfrm>
            <a:off x="676656" y="1417320"/>
            <a:ext cx="4754880" cy="4526280"/>
          </a:xfrm>
          <a:prstGeom prst="roundRect">
            <a:avLst>
              <a:gd name="adj" fmla="val 3636"/>
            </a:avLst>
          </a:prstGeom>
          <a:solidFill>
            <a:srgbClr val="EEF7FF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1764792"/>
            <a:ext cx="1463040" cy="2286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1853489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7008" y="1815084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Zelfde inhoud</a:t>
            </a:r>
            <a:endParaRPr lang="en-US" sz="540" dirty="0"/>
          </a:p>
        </p:txBody>
      </p:sp>
      <p:sp>
        <p:nvSpPr>
          <p:cNvPr id="13" name="Text 11"/>
          <p:cNvSpPr/>
          <p:nvPr/>
        </p:nvSpPr>
        <p:spPr>
          <a:xfrm>
            <a:off x="996696" y="2331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bron blijft Malmberg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96696" y="29077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leerlaag gebruikt dezelfde gecontroleerde content.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996696" y="3703320"/>
            <a:ext cx="3931920" cy="292608"/>
          </a:xfrm>
          <a:prstGeom prst="roundRect">
            <a:avLst>
              <a:gd name="adj" fmla="val 21875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06424" y="3776472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29284" y="3773729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18" name="Text 16"/>
          <p:cNvSpPr/>
          <p:nvPr/>
        </p:nvSpPr>
        <p:spPr>
          <a:xfrm>
            <a:off x="1307592" y="377190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Boek</a:t>
            </a:r>
            <a:endParaRPr lang="en-US" sz="610" dirty="0"/>
          </a:p>
        </p:txBody>
      </p:sp>
      <p:sp>
        <p:nvSpPr>
          <p:cNvPr id="19" name="Shape 17"/>
          <p:cNvSpPr/>
          <p:nvPr/>
        </p:nvSpPr>
        <p:spPr>
          <a:xfrm>
            <a:off x="996696" y="4105656"/>
            <a:ext cx="3931920" cy="292608"/>
          </a:xfrm>
          <a:prstGeom prst="roundRect">
            <a:avLst>
              <a:gd name="adj" fmla="val 21875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06424" y="4178808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29284" y="4176065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22" name="Text 20"/>
          <p:cNvSpPr/>
          <p:nvPr/>
        </p:nvSpPr>
        <p:spPr>
          <a:xfrm>
            <a:off x="1307592" y="4174236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Hoofdstuk</a:t>
            </a:r>
            <a:endParaRPr lang="en-US" sz="610" dirty="0"/>
          </a:p>
        </p:txBody>
      </p:sp>
      <p:sp>
        <p:nvSpPr>
          <p:cNvPr id="23" name="Shape 21"/>
          <p:cNvSpPr/>
          <p:nvPr/>
        </p:nvSpPr>
        <p:spPr>
          <a:xfrm>
            <a:off x="996696" y="4507992"/>
            <a:ext cx="3931920" cy="292608"/>
          </a:xfrm>
          <a:prstGeom prst="roundRect">
            <a:avLst>
              <a:gd name="adj" fmla="val 21875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6424" y="4581144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29284" y="4578401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26" name="Text 24"/>
          <p:cNvSpPr/>
          <p:nvPr/>
        </p:nvSpPr>
        <p:spPr>
          <a:xfrm>
            <a:off x="1307592" y="4576572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Leerdoel</a:t>
            </a:r>
            <a:endParaRPr lang="en-US" sz="610" dirty="0"/>
          </a:p>
        </p:txBody>
      </p:sp>
      <p:sp>
        <p:nvSpPr>
          <p:cNvPr id="27" name="Shape 25"/>
          <p:cNvSpPr/>
          <p:nvPr/>
        </p:nvSpPr>
        <p:spPr>
          <a:xfrm>
            <a:off x="6080760" y="1417320"/>
            <a:ext cx="4754880" cy="4526280"/>
          </a:xfrm>
          <a:prstGeom prst="roundRect">
            <a:avLst>
              <a:gd name="adj" fmla="val 3636"/>
            </a:avLst>
          </a:prstGeom>
          <a:solidFill>
            <a:srgbClr val="EEF8EE"/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0" y="1764792"/>
            <a:ext cx="1463040" cy="2286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01384" y="1853489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11112" y="1815084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Andere voordeur</a:t>
            </a:r>
            <a:endParaRPr lang="en-US" sz="540" dirty="0"/>
          </a:p>
        </p:txBody>
      </p:sp>
      <p:sp>
        <p:nvSpPr>
          <p:cNvPr id="31" name="Text 29"/>
          <p:cNvSpPr/>
          <p:nvPr/>
        </p:nvSpPr>
        <p:spPr>
          <a:xfrm>
            <a:off x="6400800" y="23317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Het kanaal kan verschillen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400800" y="29077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leerling kan de hulp krijgen op een plek die logisch voelt.</a:t>
            </a:r>
            <a:endParaRPr lang="en-US" sz="720" dirty="0"/>
          </a:p>
        </p:txBody>
      </p:sp>
      <p:sp>
        <p:nvSpPr>
          <p:cNvPr id="33" name="Shape 31"/>
          <p:cNvSpPr/>
          <p:nvPr/>
        </p:nvSpPr>
        <p:spPr>
          <a:xfrm>
            <a:off x="6400800" y="3703320"/>
            <a:ext cx="3931920" cy="292608"/>
          </a:xfrm>
          <a:prstGeom prst="roundRect">
            <a:avLst>
              <a:gd name="adj" fmla="val 21875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510528" y="3776472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3388" y="3773729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36" name="Text 34"/>
          <p:cNvSpPr/>
          <p:nvPr/>
        </p:nvSpPr>
        <p:spPr>
          <a:xfrm>
            <a:off x="6711696" y="377190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 UI</a:t>
            </a:r>
            <a:endParaRPr lang="en-US" sz="610" dirty="0"/>
          </a:p>
        </p:txBody>
      </p:sp>
      <p:sp>
        <p:nvSpPr>
          <p:cNvPr id="37" name="Shape 35"/>
          <p:cNvSpPr/>
          <p:nvPr/>
        </p:nvSpPr>
        <p:spPr>
          <a:xfrm>
            <a:off x="6400800" y="4105656"/>
            <a:ext cx="3931920" cy="292608"/>
          </a:xfrm>
          <a:prstGeom prst="roundRect">
            <a:avLst>
              <a:gd name="adj" fmla="val 21875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510528" y="4178808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3388" y="4176065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40" name="Text 38"/>
          <p:cNvSpPr/>
          <p:nvPr/>
        </p:nvSpPr>
        <p:spPr>
          <a:xfrm>
            <a:off x="6711696" y="4174236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Malmberg-integratie</a:t>
            </a:r>
            <a:endParaRPr lang="en-US" sz="610" dirty="0"/>
          </a:p>
        </p:txBody>
      </p:sp>
      <p:sp>
        <p:nvSpPr>
          <p:cNvPr id="41" name="Shape 39"/>
          <p:cNvSpPr/>
          <p:nvPr/>
        </p:nvSpPr>
        <p:spPr>
          <a:xfrm>
            <a:off x="6400800" y="4507992"/>
            <a:ext cx="3931920" cy="292608"/>
          </a:xfrm>
          <a:prstGeom prst="roundRect">
            <a:avLst>
              <a:gd name="adj" fmla="val 21875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10528" y="4581144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3388" y="4578401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44" name="Text 42"/>
          <p:cNvSpPr/>
          <p:nvPr/>
        </p:nvSpPr>
        <p:spPr>
          <a:xfrm>
            <a:off x="6711696" y="4576572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Chatkanaal</a:t>
            </a:r>
            <a:endParaRPr lang="en-US" sz="61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" y="713232"/>
            <a:ext cx="1298448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" y="797357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86968" y="763524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Kwaliteit</a:t>
            </a:r>
            <a:endParaRPr lang="en-US" sz="540" dirty="0"/>
          </a:p>
        </p:txBody>
      </p:sp>
      <p:sp>
        <p:nvSpPr>
          <p:cNvPr id="5" name="Shape 3"/>
          <p:cNvSpPr/>
          <p:nvPr/>
        </p:nvSpPr>
        <p:spPr>
          <a:xfrm>
            <a:off x="10972800" y="713232"/>
            <a:ext cx="530352" cy="219456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73384" y="797357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83112" y="76352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11</a:t>
            </a:r>
            <a:endParaRPr lang="en-US" sz="540" dirty="0"/>
          </a:p>
        </p:txBody>
      </p:sp>
      <p:sp>
        <p:nvSpPr>
          <p:cNvPr id="8" name="Text 6"/>
          <p:cNvSpPr/>
          <p:nvPr/>
        </p:nvSpPr>
        <p:spPr>
          <a:xfrm>
            <a:off x="11018520" y="6519672"/>
            <a:ext cx="457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11</a:t>
            </a:r>
            <a:endParaRPr lang="en-US" sz="520" dirty="0"/>
          </a:p>
        </p:txBody>
      </p:sp>
      <p:sp>
        <p:nvSpPr>
          <p:cNvPr id="9" name="Shape 7"/>
          <p:cNvSpPr/>
          <p:nvPr/>
        </p:nvSpPr>
        <p:spPr>
          <a:xfrm>
            <a:off x="676656" y="1389888"/>
            <a:ext cx="1463040" cy="228600"/>
          </a:xfrm>
          <a:prstGeom prst="roundRect">
            <a:avLst>
              <a:gd name="adj" fmla="val 5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1478585"/>
            <a:ext cx="51206" cy="51206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1440180"/>
            <a:ext cx="11887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Kwaliteitscontrole</a:t>
            </a:r>
            <a:endParaRPr lang="en-US" sz="540" dirty="0"/>
          </a:p>
        </p:txBody>
      </p:sp>
      <p:sp>
        <p:nvSpPr>
          <p:cNvPr id="12" name="Text 10"/>
          <p:cNvSpPr/>
          <p:nvPr/>
        </p:nvSpPr>
        <p:spPr>
          <a:xfrm>
            <a:off x="676656" y="222199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in the loop backend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6656" y="29809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maakt voorwerk, mensen bewaken kwaliteit.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676656" y="3675888"/>
            <a:ext cx="4343400" cy="265176"/>
          </a:xfrm>
          <a:prstGeom prst="roundRect">
            <a:avLst>
              <a:gd name="adj" fmla="val 24138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86384" y="3749040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9244" y="3746297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17" name="Text 15"/>
          <p:cNvSpPr/>
          <p:nvPr/>
        </p:nvSpPr>
        <p:spPr>
          <a:xfrm>
            <a:off x="987552" y="3744468"/>
            <a:ext cx="3904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Docenten, redactie of vakexperts kunnen AI-output controleren.</a:t>
            </a:r>
            <a:endParaRPr lang="en-US" sz="610" dirty="0"/>
          </a:p>
        </p:txBody>
      </p:sp>
      <p:sp>
        <p:nvSpPr>
          <p:cNvPr id="18" name="Shape 16"/>
          <p:cNvSpPr/>
          <p:nvPr/>
        </p:nvSpPr>
        <p:spPr>
          <a:xfrm>
            <a:off x="676656" y="4041648"/>
            <a:ext cx="4343400" cy="265176"/>
          </a:xfrm>
          <a:prstGeom prst="roundRect">
            <a:avLst>
              <a:gd name="adj" fmla="val 24138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" y="4114800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9244" y="4112057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21" name="Text 19"/>
          <p:cNvSpPr/>
          <p:nvPr/>
        </p:nvSpPr>
        <p:spPr>
          <a:xfrm>
            <a:off x="987552" y="4110228"/>
            <a:ext cx="3904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Nieuwe content krijgt review-gates voordat leerlingen ermee werken.</a:t>
            </a:r>
            <a:endParaRPr lang="en-US" sz="610" dirty="0"/>
          </a:p>
        </p:txBody>
      </p:sp>
      <p:sp>
        <p:nvSpPr>
          <p:cNvPr id="22" name="Shape 20"/>
          <p:cNvSpPr/>
          <p:nvPr/>
        </p:nvSpPr>
        <p:spPr>
          <a:xfrm>
            <a:off x="676656" y="4407408"/>
            <a:ext cx="4343400" cy="265176"/>
          </a:xfrm>
          <a:prstGeom prst="roundRect">
            <a:avLst>
              <a:gd name="adj" fmla="val 24138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6384" y="4480560"/>
            <a:ext cx="118872" cy="118872"/>
          </a:xfrm>
          <a:prstGeom prst="ellipse">
            <a:avLst/>
          </a:prstGeom>
          <a:solidFill>
            <a:srgbClr val="FF5A1F"/>
          </a:solidFill>
          <a:ln w="12700">
            <a:solidFill>
              <a:srgbClr val="FF5A1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9244" y="4477817"/>
            <a:ext cx="731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580" dirty="0"/>
          </a:p>
        </p:txBody>
      </p:sp>
      <p:sp>
        <p:nvSpPr>
          <p:cNvPr id="25" name="Text 23"/>
          <p:cNvSpPr/>
          <p:nvPr/>
        </p:nvSpPr>
        <p:spPr>
          <a:xfrm>
            <a:off x="987552" y="4475988"/>
            <a:ext cx="39044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1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Bronnen, wijzigingen en beslissingen blijven terug te vinden.</a:t>
            </a:r>
            <a:endParaRPr lang="en-US" sz="610" dirty="0"/>
          </a:p>
        </p:txBody>
      </p:sp>
      <p:sp>
        <p:nvSpPr>
          <p:cNvPr id="26" name="Shape 24"/>
          <p:cNvSpPr/>
          <p:nvPr/>
        </p:nvSpPr>
        <p:spPr>
          <a:xfrm>
            <a:off x="5705856" y="1655064"/>
            <a:ext cx="5166360" cy="3246120"/>
          </a:xfrm>
          <a:prstGeom prst="roundRect">
            <a:avLst>
              <a:gd name="adj" fmla="val 5070"/>
            </a:avLst>
          </a:prstGeom>
          <a:solidFill>
            <a:srgbClr val="D8D2CA">
              <a:alpha val="26000"/>
            </a:srgbClr>
          </a:solidFill>
          <a:ln w="12700">
            <a:solidFill>
              <a:srgbClr val="D8D2CA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50992" y="1600200"/>
            <a:ext cx="5166360" cy="3246120"/>
          </a:xfrm>
          <a:prstGeom prst="roundRect">
            <a:avLst>
              <a:gd name="adj" fmla="val 5070"/>
            </a:avLst>
          </a:prstGeom>
          <a:solidFill>
            <a:srgbClr val="FFFFFF"/>
          </a:solidFill>
          <a:ln w="12700">
            <a:solidFill>
              <a:srgbClr val="E8E1D8"/>
            </a:solidFill>
            <a:prstDash val="solid"/>
          </a:ln>
        </p:spPr>
      </p:sp>
      <p:pic>
        <p:nvPicPr>
          <p:cNvPr id="28" name="Image 0" descr="/Users/woutervanrijmenam/Documents/Projects/Qraft/projects/tapwise/tools/presentations/decks/tapwise-malmberg-slimme-leerlaag-tap-20260608/assets/tapwise-review-loop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52160" y="1764792"/>
            <a:ext cx="4764024" cy="2898648"/>
          </a:xfrm>
          <a:prstGeom prst="rect">
            <a:avLst/>
          </a:prstGeom>
        </p:spPr>
      </p:pic>
      <p:sp>
        <p:nvSpPr>
          <p:cNvPr id="29" name="Shape 26"/>
          <p:cNvSpPr/>
          <p:nvPr/>
        </p:nvSpPr>
        <p:spPr>
          <a:xfrm>
            <a:off x="5943600" y="4462272"/>
            <a:ext cx="1920240" cy="192024"/>
          </a:xfrm>
          <a:prstGeom prst="roundRect">
            <a:avLst>
              <a:gd name="adj" fmla="val 47619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035040" y="4517136"/>
            <a:ext cx="1737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voordat leerlingen ermee werken</a:t>
            </a:r>
            <a:endParaRPr lang="en-US" sz="4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86200" y="26060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1515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Samenwerking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2834640" y="3337560"/>
            <a:ext cx="2834640" cy="530352"/>
          </a:xfrm>
          <a:prstGeom prst="roundRect">
            <a:avLst>
              <a:gd name="adj" fmla="val 13793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63240" y="3474720"/>
            <a:ext cx="235915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Neem contact op met TapEngine via AI-infrastructuur voor de educatiemarkt</a:t>
            </a:r>
            <a:endParaRPr lang="en-US" sz="580" dirty="0"/>
          </a:p>
        </p:txBody>
      </p:sp>
      <p:sp>
        <p:nvSpPr>
          <p:cNvPr id="5" name="Shape 3"/>
          <p:cNvSpPr/>
          <p:nvPr/>
        </p:nvSpPr>
        <p:spPr>
          <a:xfrm>
            <a:off x="676656" y="6181344"/>
            <a:ext cx="10835640" cy="347472"/>
          </a:xfrm>
          <a:prstGeom prst="roundRect">
            <a:avLst>
              <a:gd name="adj" fmla="val 23684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E8E1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626364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Slide 11</a:t>
            </a:r>
            <a:endParaRPr lang="en-US" sz="460" dirty="0"/>
          </a:p>
          <a:p>
            <a:pPr indent="0" marL="0">
              <a:buNone/>
            </a:pPr>
            <a:r>
              <a:rPr lang="en-US" sz="46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 x Malmberg</a:t>
            </a:r>
            <a:endParaRPr lang="en-US" sz="460" dirty="0"/>
          </a:p>
        </p:txBody>
      </p:sp>
      <p:sp>
        <p:nvSpPr>
          <p:cNvPr id="7" name="Text 5"/>
          <p:cNvSpPr/>
          <p:nvPr/>
        </p:nvSpPr>
        <p:spPr>
          <a:xfrm>
            <a:off x="5074920" y="6291072"/>
            <a:ext cx="2011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6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Samenwerking</a:t>
            </a:r>
            <a:endParaRPr lang="en-US" sz="460" dirty="0"/>
          </a:p>
        </p:txBody>
      </p:sp>
      <p:sp>
        <p:nvSpPr>
          <p:cNvPr id="8" name="Text 6"/>
          <p:cNvSpPr/>
          <p:nvPr/>
        </p:nvSpPr>
        <p:spPr>
          <a:xfrm>
            <a:off x="10424160" y="6291072"/>
            <a:ext cx="8229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460" dirty="0">
                <a:solidFill>
                  <a:srgbClr val="62626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Tapwise</a:t>
            </a:r>
            <a:endParaRPr lang="en-US" sz="4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Qraft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Tapwise x Malmberg - Slimme leerlaag</dc:title>
  <dc:subject>Tapwise x Malmberg - Slimme leerlaag</dc:subject>
  <dc:creator>Qraft</dc:creator>
  <cp:lastModifiedBy>Qraft</cp:lastModifiedBy>
  <cp:revision>1</cp:revision>
  <dcterms:created xsi:type="dcterms:W3CDTF">2026-06-08T13:48:49Z</dcterms:created>
  <dcterms:modified xsi:type="dcterms:W3CDTF">2026-06-08T13:48:49Z</dcterms:modified>
</cp:coreProperties>
</file>